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69" r:id="rId4"/>
    <p:sldId id="270" r:id="rId5"/>
    <p:sldId id="271" r:id="rId6"/>
    <p:sldId id="258" r:id="rId7"/>
    <p:sldId id="272" r:id="rId8"/>
    <p:sldId id="261" r:id="rId9"/>
    <p:sldId id="274" r:id="rId10"/>
    <p:sldId id="275" r:id="rId11"/>
    <p:sldId id="276" r:id="rId12"/>
    <p:sldId id="260" r:id="rId13"/>
    <p:sldId id="27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2" autoAdjust="0"/>
    <p:restoredTop sz="94660"/>
  </p:normalViewPr>
  <p:slideViewPr>
    <p:cSldViewPr snapToGrid="0">
      <p:cViewPr>
        <p:scale>
          <a:sx n="101" d="100"/>
          <a:sy n="101" d="100"/>
        </p:scale>
        <p:origin x="96" y="2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ran Srikkanth" userId="84e5aec74322e146" providerId="LiveId" clId="{3409DBD9-7854-47C3-96BE-9F330DBEF94C}"/>
    <pc:docChg chg="custSel modSld">
      <pc:chgData name="Charan Srikkanth" userId="84e5aec74322e146" providerId="LiveId" clId="{3409DBD9-7854-47C3-96BE-9F330DBEF94C}" dt="2026-01-22T20:05:04.080" v="148" actId="20577"/>
      <pc:docMkLst>
        <pc:docMk/>
      </pc:docMkLst>
      <pc:sldChg chg="modSp mod">
        <pc:chgData name="Charan Srikkanth" userId="84e5aec74322e146" providerId="LiveId" clId="{3409DBD9-7854-47C3-96BE-9F330DBEF94C}" dt="2026-01-22T19:57:11.786" v="81" actId="20577"/>
        <pc:sldMkLst>
          <pc:docMk/>
          <pc:sldMk cId="1091945467" sldId="258"/>
        </pc:sldMkLst>
        <pc:spChg chg="mod">
          <ac:chgData name="Charan Srikkanth" userId="84e5aec74322e146" providerId="LiveId" clId="{3409DBD9-7854-47C3-96BE-9F330DBEF94C}" dt="2026-01-22T19:57:11.786" v="81" actId="20577"/>
          <ac:spMkLst>
            <pc:docMk/>
            <pc:sldMk cId="1091945467" sldId="258"/>
            <ac:spMk id="3" creationId="{4A1BD4BC-525B-4326-9947-F85CA0B8423D}"/>
          </ac:spMkLst>
        </pc:spChg>
      </pc:sldChg>
      <pc:sldChg chg="modSp mod">
        <pc:chgData name="Charan Srikkanth" userId="84e5aec74322e146" providerId="LiveId" clId="{3409DBD9-7854-47C3-96BE-9F330DBEF94C}" dt="2026-01-22T20:05:04.080" v="148" actId="20577"/>
        <pc:sldMkLst>
          <pc:docMk/>
          <pc:sldMk cId="735589808" sldId="260"/>
        </pc:sldMkLst>
        <pc:spChg chg="mod">
          <ac:chgData name="Charan Srikkanth" userId="84e5aec74322e146" providerId="LiveId" clId="{3409DBD9-7854-47C3-96BE-9F330DBEF94C}" dt="2026-01-22T20:04:56.363" v="147" actId="20577"/>
          <ac:spMkLst>
            <pc:docMk/>
            <pc:sldMk cId="735589808" sldId="260"/>
            <ac:spMk id="2" creationId="{02D81D64-BF3F-702B-D8FE-2F41E8BC00A8}"/>
          </ac:spMkLst>
        </pc:spChg>
        <pc:spChg chg="mod">
          <ac:chgData name="Charan Srikkanth" userId="84e5aec74322e146" providerId="LiveId" clId="{3409DBD9-7854-47C3-96BE-9F330DBEF94C}" dt="2026-01-22T20:05:04.080" v="148" actId="20577"/>
          <ac:spMkLst>
            <pc:docMk/>
            <pc:sldMk cId="735589808" sldId="260"/>
            <ac:spMk id="3" creationId="{EC55203A-F3FC-C0B6-7E03-6CFEE3A86FB6}"/>
          </ac:spMkLst>
        </pc:spChg>
      </pc:sldChg>
      <pc:sldChg chg="addSp modSp mod">
        <pc:chgData name="Charan Srikkanth" userId="84e5aec74322e146" providerId="LiveId" clId="{3409DBD9-7854-47C3-96BE-9F330DBEF94C}" dt="2026-01-22T20:01:17.498" v="127" actId="208"/>
        <pc:sldMkLst>
          <pc:docMk/>
          <pc:sldMk cId="4157324632" sldId="261"/>
        </pc:sldMkLst>
        <pc:spChg chg="mod">
          <ac:chgData name="Charan Srikkanth" userId="84e5aec74322e146" providerId="LiveId" clId="{3409DBD9-7854-47C3-96BE-9F330DBEF94C}" dt="2026-01-22T20:00:17.655" v="121" actId="20577"/>
          <ac:spMkLst>
            <pc:docMk/>
            <pc:sldMk cId="4157324632" sldId="261"/>
            <ac:spMk id="2" creationId="{89F9DD36-FC2B-7874-EC33-2CAF6CF25709}"/>
          </ac:spMkLst>
        </pc:spChg>
        <pc:spChg chg="mod">
          <ac:chgData name="Charan Srikkanth" userId="84e5aec74322e146" providerId="LiveId" clId="{3409DBD9-7854-47C3-96BE-9F330DBEF94C}" dt="2026-01-22T20:00:34.433" v="124" actId="20577"/>
          <ac:spMkLst>
            <pc:docMk/>
            <pc:sldMk cId="4157324632" sldId="261"/>
            <ac:spMk id="3" creationId="{F94FCF69-0FB0-A7BF-3C1B-13C78AC4EDC7}"/>
          </ac:spMkLst>
        </pc:spChg>
        <pc:spChg chg="add mod">
          <ac:chgData name="Charan Srikkanth" userId="84e5aec74322e146" providerId="LiveId" clId="{3409DBD9-7854-47C3-96BE-9F330DBEF94C}" dt="2026-01-22T20:01:17.498" v="127" actId="208"/>
          <ac:spMkLst>
            <pc:docMk/>
            <pc:sldMk cId="4157324632" sldId="261"/>
            <ac:spMk id="8" creationId="{63987E01-12ED-6529-1E78-F490D1F9B429}"/>
          </ac:spMkLst>
        </pc:spChg>
      </pc:sldChg>
      <pc:sldChg chg="modSp mod">
        <pc:chgData name="Charan Srikkanth" userId="84e5aec74322e146" providerId="LiveId" clId="{3409DBD9-7854-47C3-96BE-9F330DBEF94C}" dt="2026-01-22T19:50:31.603" v="19" actId="20577"/>
        <pc:sldMkLst>
          <pc:docMk/>
          <pc:sldMk cId="40224752" sldId="269"/>
        </pc:sldMkLst>
        <pc:spChg chg="mod">
          <ac:chgData name="Charan Srikkanth" userId="84e5aec74322e146" providerId="LiveId" clId="{3409DBD9-7854-47C3-96BE-9F330DBEF94C}" dt="2026-01-22T19:50:31.603" v="19" actId="20577"/>
          <ac:spMkLst>
            <pc:docMk/>
            <pc:sldMk cId="40224752" sldId="269"/>
            <ac:spMk id="10" creationId="{214D3F5C-FE90-BC70-3069-98CA853EF93A}"/>
          </ac:spMkLst>
        </pc:spChg>
      </pc:sldChg>
      <pc:sldChg chg="modSp mod">
        <pc:chgData name="Charan Srikkanth" userId="84e5aec74322e146" providerId="LiveId" clId="{3409DBD9-7854-47C3-96BE-9F330DBEF94C}" dt="2026-01-22T19:52:06.507" v="53" actId="20577"/>
        <pc:sldMkLst>
          <pc:docMk/>
          <pc:sldMk cId="3743219213" sldId="271"/>
        </pc:sldMkLst>
        <pc:spChg chg="mod">
          <ac:chgData name="Charan Srikkanth" userId="84e5aec74322e146" providerId="LiveId" clId="{3409DBD9-7854-47C3-96BE-9F330DBEF94C}" dt="2026-01-22T19:52:06.507" v="53" actId="20577"/>
          <ac:spMkLst>
            <pc:docMk/>
            <pc:sldMk cId="3743219213" sldId="271"/>
            <ac:spMk id="3" creationId="{621C3645-6D9E-6830-22D7-19BB4CA62510}"/>
          </ac:spMkLst>
        </pc:spChg>
      </pc:sldChg>
      <pc:sldChg chg="modSp mod">
        <pc:chgData name="Charan Srikkanth" userId="84e5aec74322e146" providerId="LiveId" clId="{3409DBD9-7854-47C3-96BE-9F330DBEF94C}" dt="2026-01-22T19:59:40.613" v="119" actId="20577"/>
        <pc:sldMkLst>
          <pc:docMk/>
          <pc:sldMk cId="1546570188" sldId="272"/>
        </pc:sldMkLst>
        <pc:spChg chg="mod">
          <ac:chgData name="Charan Srikkanth" userId="84e5aec74322e146" providerId="LiveId" clId="{3409DBD9-7854-47C3-96BE-9F330DBEF94C}" dt="2026-01-22T19:58:18.473" v="85" actId="20577"/>
          <ac:spMkLst>
            <pc:docMk/>
            <pc:sldMk cId="1546570188" sldId="272"/>
            <ac:spMk id="2" creationId="{ACF80F58-6647-9BCE-C8C1-D3C447332C2B}"/>
          </ac:spMkLst>
        </pc:spChg>
        <pc:spChg chg="mod">
          <ac:chgData name="Charan Srikkanth" userId="84e5aec74322e146" providerId="LiveId" clId="{3409DBD9-7854-47C3-96BE-9F330DBEF94C}" dt="2026-01-22T19:59:40.613" v="119" actId="20577"/>
          <ac:spMkLst>
            <pc:docMk/>
            <pc:sldMk cId="1546570188" sldId="272"/>
            <ac:spMk id="3" creationId="{522333C5-BED0-9E26-6397-2B70C42B5D04}"/>
          </ac:spMkLst>
        </pc:spChg>
      </pc:sldChg>
      <pc:sldChg chg="modSp mod">
        <pc:chgData name="Charan Srikkanth" userId="84e5aec74322e146" providerId="LiveId" clId="{3409DBD9-7854-47C3-96BE-9F330DBEF94C}" dt="2026-01-22T20:03:03.898" v="139" actId="1076"/>
        <pc:sldMkLst>
          <pc:docMk/>
          <pc:sldMk cId="1671997672" sldId="274"/>
        </pc:sldMkLst>
        <pc:spChg chg="mod">
          <ac:chgData name="Charan Srikkanth" userId="84e5aec74322e146" providerId="LiveId" clId="{3409DBD9-7854-47C3-96BE-9F330DBEF94C}" dt="2026-01-22T20:01:33.068" v="129" actId="20577"/>
          <ac:spMkLst>
            <pc:docMk/>
            <pc:sldMk cId="1671997672" sldId="274"/>
            <ac:spMk id="3" creationId="{10D1FE39-80F0-A282-1B4F-74CB2DF498BB}"/>
          </ac:spMkLst>
        </pc:spChg>
        <pc:spChg chg="mod">
          <ac:chgData name="Charan Srikkanth" userId="84e5aec74322e146" providerId="LiveId" clId="{3409DBD9-7854-47C3-96BE-9F330DBEF94C}" dt="2026-01-22T20:03:03.898" v="139" actId="1076"/>
          <ac:spMkLst>
            <pc:docMk/>
            <pc:sldMk cId="1671997672" sldId="274"/>
            <ac:spMk id="4" creationId="{67F26746-A848-422B-F192-E0B7EE794BFD}"/>
          </ac:spMkLst>
        </pc:spChg>
        <pc:spChg chg="mod">
          <ac:chgData name="Charan Srikkanth" userId="84e5aec74322e146" providerId="LiveId" clId="{3409DBD9-7854-47C3-96BE-9F330DBEF94C}" dt="2026-01-22T20:02:52.294" v="137" actId="1076"/>
          <ac:spMkLst>
            <pc:docMk/>
            <pc:sldMk cId="1671997672" sldId="274"/>
            <ac:spMk id="9" creationId="{DE2626BA-DFE2-AC54-B136-DDEA579F1E57}"/>
          </ac:spMkLst>
        </pc:spChg>
        <pc:spChg chg="mod">
          <ac:chgData name="Charan Srikkanth" userId="84e5aec74322e146" providerId="LiveId" clId="{3409DBD9-7854-47C3-96BE-9F330DBEF94C}" dt="2026-01-22T20:02:56.989" v="138" actId="1076"/>
          <ac:spMkLst>
            <pc:docMk/>
            <pc:sldMk cId="1671997672" sldId="274"/>
            <ac:spMk id="10" creationId="{986CA5D4-BA99-9963-54AF-2927718DB93B}"/>
          </ac:spMkLst>
        </pc:spChg>
        <pc:picChg chg="mod">
          <ac:chgData name="Charan Srikkanth" userId="84e5aec74322e146" providerId="LiveId" clId="{3409DBD9-7854-47C3-96BE-9F330DBEF94C}" dt="2026-01-22T20:02:48.788" v="136" actId="1076"/>
          <ac:picMkLst>
            <pc:docMk/>
            <pc:sldMk cId="1671997672" sldId="274"/>
            <ac:picMk id="6" creationId="{B11613DE-827C-CB56-85BA-3F560E0370CE}"/>
          </ac:picMkLst>
        </pc:picChg>
        <pc:picChg chg="mod">
          <ac:chgData name="Charan Srikkanth" userId="84e5aec74322e146" providerId="LiveId" clId="{3409DBD9-7854-47C3-96BE-9F330DBEF94C}" dt="2026-01-22T20:02:45.222" v="135" actId="1076"/>
          <ac:picMkLst>
            <pc:docMk/>
            <pc:sldMk cId="1671997672" sldId="274"/>
            <ac:picMk id="7" creationId="{6C35C2C5-4924-954D-37C0-8F31A05796C5}"/>
          </ac:picMkLst>
        </pc:picChg>
        <pc:picChg chg="mod">
          <ac:chgData name="Charan Srikkanth" userId="84e5aec74322e146" providerId="LiveId" clId="{3409DBD9-7854-47C3-96BE-9F330DBEF94C}" dt="2026-01-22T20:02:36.385" v="133" actId="1076"/>
          <ac:picMkLst>
            <pc:docMk/>
            <pc:sldMk cId="1671997672" sldId="274"/>
            <ac:picMk id="8" creationId="{AE76019B-711C-A378-3676-887136E61D9E}"/>
          </ac:picMkLst>
        </pc:picChg>
      </pc:sldChg>
      <pc:sldChg chg="addSp delSp modSp mod">
        <pc:chgData name="Charan Srikkanth" userId="84e5aec74322e146" providerId="LiveId" clId="{3409DBD9-7854-47C3-96BE-9F330DBEF94C}" dt="2026-01-22T20:03:23.532" v="141" actId="1076"/>
        <pc:sldMkLst>
          <pc:docMk/>
          <pc:sldMk cId="355950916" sldId="275"/>
        </pc:sldMkLst>
        <pc:spChg chg="add mod">
          <ac:chgData name="Charan Srikkanth" userId="84e5aec74322e146" providerId="LiveId" clId="{3409DBD9-7854-47C3-96BE-9F330DBEF94C}" dt="2026-01-22T20:03:23.532" v="141" actId="1076"/>
          <ac:spMkLst>
            <pc:docMk/>
            <pc:sldMk cId="355950916" sldId="275"/>
            <ac:spMk id="16" creationId="{901CB464-F695-C784-A8A2-8917C4FEE3F1}"/>
          </ac:spMkLst>
        </pc:spChg>
        <pc:picChg chg="mod">
          <ac:chgData name="Charan Srikkanth" userId="84e5aec74322e146" providerId="LiveId" clId="{3409DBD9-7854-47C3-96BE-9F330DBEF94C}" dt="2026-01-22T20:03:16.209" v="140" actId="1076"/>
          <ac:picMkLst>
            <pc:docMk/>
            <pc:sldMk cId="355950916" sldId="275"/>
            <ac:picMk id="11" creationId="{AD430CEA-693F-EE5E-D132-45AC00E02FDD}"/>
          </ac:picMkLst>
        </pc:picChg>
        <pc:cxnChg chg="del">
          <ac:chgData name="Charan Srikkanth" userId="84e5aec74322e146" providerId="LiveId" clId="{3409DBD9-7854-47C3-96BE-9F330DBEF94C}" dt="2026-01-22T20:01:54.795" v="130" actId="478"/>
          <ac:cxnSpMkLst>
            <pc:docMk/>
            <pc:sldMk cId="355950916" sldId="275"/>
            <ac:cxnSpMk id="13" creationId="{39DC3786-D3E2-5357-9E6F-6C39DDC4F28B}"/>
          </ac:cxnSpMkLst>
        </pc:cxnChg>
      </pc:sldChg>
      <pc:sldChg chg="modSp mod">
        <pc:chgData name="Charan Srikkanth" userId="84e5aec74322e146" providerId="LiveId" clId="{3409DBD9-7854-47C3-96BE-9F330DBEF94C}" dt="2026-01-22T20:04:32.984" v="144" actId="20577"/>
        <pc:sldMkLst>
          <pc:docMk/>
          <pc:sldMk cId="477582328" sldId="276"/>
        </pc:sldMkLst>
        <pc:spChg chg="mod">
          <ac:chgData name="Charan Srikkanth" userId="84e5aec74322e146" providerId="LiveId" clId="{3409DBD9-7854-47C3-96BE-9F330DBEF94C}" dt="2026-01-22T20:04:32.984" v="144" actId="20577"/>
          <ac:spMkLst>
            <pc:docMk/>
            <pc:sldMk cId="477582328" sldId="276"/>
            <ac:spMk id="3" creationId="{23591645-4D0A-F227-015F-3811F281737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444FD-C29A-4E50-9798-0F69C02FB535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44FAD-5508-4225-9B23-65012E833AA8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8606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444FD-C29A-4E50-9798-0F69C02FB535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44FAD-5508-4225-9B23-65012E833A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9267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444FD-C29A-4E50-9798-0F69C02FB535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44FAD-5508-4225-9B23-65012E833AA8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727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444FD-C29A-4E50-9798-0F69C02FB535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44FAD-5508-4225-9B23-65012E833A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1569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444FD-C29A-4E50-9798-0F69C02FB535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44FAD-5508-4225-9B23-65012E833A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2154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444FD-C29A-4E50-9798-0F69C02FB535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44FAD-5508-4225-9B23-65012E833A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3739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444FD-C29A-4E50-9798-0F69C02FB535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44FAD-5508-4225-9B23-65012E833A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7202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89444FD-C29A-4E50-9798-0F69C02FB535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4644FAD-5508-4225-9B23-65012E833A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7405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444FD-C29A-4E50-9798-0F69C02FB535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44FAD-5508-4225-9B23-65012E833A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3801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444FD-C29A-4E50-9798-0F69C02FB535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44FAD-5508-4225-9B23-65012E833A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197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444FD-C29A-4E50-9798-0F69C02FB535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44FAD-5508-4225-9B23-65012E833A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6495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89444FD-C29A-4E50-9798-0F69C02FB535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4644FAD-5508-4225-9B23-65012E833AA8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7470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microsoft.com/office/2007/relationships/media" Target="../media/media2.mp4"/><Relationship Id="rId7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video" Target="../media/media3.mp4"/><Relationship Id="rId5" Type="http://schemas.microsoft.com/office/2007/relationships/media" Target="../media/media3.mp4"/><Relationship Id="rId10" Type="http://schemas.openxmlformats.org/officeDocument/2006/relationships/image" Target="../media/image19.png"/><Relationship Id="rId4" Type="http://schemas.openxmlformats.org/officeDocument/2006/relationships/video" Target="../media/media2.mp4"/><Relationship Id="rId9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DAD60-D540-78F3-7B95-F9E8F516FD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5865" y="758952"/>
            <a:ext cx="11395994" cy="3566160"/>
          </a:xfrm>
        </p:spPr>
        <p:txBody>
          <a:bodyPr>
            <a:normAutofit/>
          </a:bodyPr>
          <a:lstStyle/>
          <a:p>
            <a:pPr algn="ctr"/>
            <a:r>
              <a:rPr lang="en-IN" sz="6000" dirty="0"/>
              <a:t>	Blind Equalisation in Optical Fibre         </a:t>
            </a:r>
            <a:br>
              <a:rPr lang="en-IN" sz="6000" dirty="0"/>
            </a:br>
            <a:r>
              <a:rPr lang="en-IN" sz="6000" dirty="0"/>
              <a:t>  Communication using RL	</a:t>
            </a:r>
            <a:br>
              <a:rPr lang="en-IN" sz="6000" dirty="0"/>
            </a:br>
            <a:r>
              <a:rPr lang="en-IN" sz="6000" dirty="0"/>
              <a:t>EE4902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8D7F54-0092-146A-1ECE-C23FE70C39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Charan </a:t>
            </a:r>
            <a:r>
              <a:rPr lang="en-IN" dirty="0" err="1"/>
              <a:t>SRiKKanth</a:t>
            </a:r>
            <a:endParaRPr lang="en-IN" dirty="0"/>
          </a:p>
          <a:p>
            <a:r>
              <a:rPr lang="en-IN" dirty="0"/>
              <a:t>Guide: Lakshmi </a:t>
            </a:r>
            <a:r>
              <a:rPr lang="en-IN" dirty="0" err="1"/>
              <a:t>narasimhan</a:t>
            </a:r>
            <a:r>
              <a:rPr lang="en-IN" dirty="0"/>
              <a:t> </a:t>
            </a:r>
            <a:r>
              <a:rPr lang="en-IN" dirty="0" err="1"/>
              <a:t>theagarajan</a:t>
            </a:r>
            <a:endParaRPr lang="en-IN" dirty="0"/>
          </a:p>
          <a:p>
            <a:r>
              <a:rPr lang="en-IN" dirty="0"/>
              <a:t>Co-Guide: Deepa </a:t>
            </a:r>
            <a:r>
              <a:rPr lang="en-IN" dirty="0" err="1"/>
              <a:t>Venkitesh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38456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57140-ECB0-76DB-C49D-4B3232D90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7200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FD61BE-3E52-96F5-300B-4F5811E805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9913305" cy="504501"/>
          </a:xfrm>
        </p:spPr>
        <p:txBody>
          <a:bodyPr>
            <a:normAutofit/>
          </a:bodyPr>
          <a:lstStyle/>
          <a:p>
            <a:pPr algn="ctr"/>
            <a:r>
              <a:rPr lang="en-IN" sz="2800" dirty="0"/>
              <a:t>Currently there are various distortions in an optical fibre channel</a:t>
            </a:r>
          </a:p>
          <a:p>
            <a:pPr marL="0" indent="0">
              <a:buNone/>
            </a:pPr>
            <a:endParaRPr lang="en-IN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FEB1BC-6555-A12A-9F8B-4691DBDF18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326" y="2289736"/>
            <a:ext cx="4112178" cy="14507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767A26B-29CE-65CB-8FBE-C32A7A6C6D2A}"/>
              </a:ext>
            </a:extLst>
          </p:cNvPr>
          <p:cNvSpPr txBox="1"/>
          <p:nvPr/>
        </p:nvSpPr>
        <p:spPr>
          <a:xfrm>
            <a:off x="2418248" y="3654578"/>
            <a:ext cx="687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PMD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1D778A2-B172-C7D4-F97A-D7090EA1E0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6550" y="2350235"/>
            <a:ext cx="4695697" cy="105110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F8F2188-489F-9DD7-36B8-936C0F8CEF4B}"/>
              </a:ext>
            </a:extLst>
          </p:cNvPr>
          <p:cNvSpPr txBox="1"/>
          <p:nvPr/>
        </p:nvSpPr>
        <p:spPr>
          <a:xfrm>
            <a:off x="8055273" y="3654578"/>
            <a:ext cx="2318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Chromatic Dispersion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6A9C65C-47B5-FE86-E277-849D9B91DB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1366" y="3740493"/>
            <a:ext cx="2298477" cy="200079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E88E431-1EF3-B087-1BC1-449B0A60B4D6}"/>
              </a:ext>
            </a:extLst>
          </p:cNvPr>
          <p:cNvSpPr txBox="1"/>
          <p:nvPr/>
        </p:nvSpPr>
        <p:spPr>
          <a:xfrm>
            <a:off x="4936875" y="5741291"/>
            <a:ext cx="2318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Phase Noise</a:t>
            </a:r>
          </a:p>
        </p:txBody>
      </p:sp>
    </p:spTree>
    <p:extLst>
      <p:ext uri="{BB962C8B-B14F-4D97-AF65-F5344CB8AC3E}">
        <p14:creationId xmlns:p14="http://schemas.microsoft.com/office/powerpoint/2010/main" val="33239860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0EAA9-C39D-8480-F1D1-669EE6FA7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BEE30-E668-1D52-B46F-31540498C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7200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B6AAA9-133E-4B95-57D6-69884DB27A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9913305" cy="50450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2800" dirty="0"/>
              <a:t>Current ways to correct these distortions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14D3F5C-FE90-BC70-3069-98CA853EF93A}"/>
              </a:ext>
            </a:extLst>
          </p:cNvPr>
          <p:cNvSpPr txBox="1">
            <a:spLocks/>
          </p:cNvSpPr>
          <p:nvPr/>
        </p:nvSpPr>
        <p:spPr>
          <a:xfrm>
            <a:off x="1036825" y="2150621"/>
            <a:ext cx="2454522" cy="3385547"/>
          </a:xfrm>
          <a:prstGeom prst="rect">
            <a:avLst/>
          </a:prstGeom>
        </p:spPr>
        <p:txBody>
          <a:bodyPr vert="horz" lIns="0" tIns="45720" rIns="0" bIns="45720" rtlCol="0"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dirty="0"/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CMA</a:t>
            </a:r>
          </a:p>
          <a:p>
            <a:pPr marL="457200" indent="-457200">
              <a:buFont typeface="+mj-lt"/>
              <a:buAutoNum type="arabicPeriod"/>
            </a:pPr>
            <a:endParaRPr lang="en-IN" dirty="0"/>
          </a:p>
          <a:p>
            <a:pPr marL="457200" indent="-457200">
              <a:buFont typeface="+mj-lt"/>
              <a:buAutoNum type="arabicPeriod"/>
            </a:pPr>
            <a:endParaRPr lang="en-IN" dirty="0"/>
          </a:p>
          <a:p>
            <a:pPr marL="457200" indent="-457200">
              <a:buFont typeface="+mj-lt"/>
              <a:buAutoNum type="arabicPeriod"/>
            </a:pPr>
            <a:endParaRPr lang="en-IN" dirty="0"/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LMS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Frequency </a:t>
            </a:r>
          </a:p>
          <a:p>
            <a:pPr marL="0" indent="0">
              <a:buNone/>
            </a:pPr>
            <a:r>
              <a:rPr lang="en-IN" dirty="0"/>
              <a:t>        Offset Correction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767E9EB-6B6D-3C73-1308-074B86247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1354" y="2796608"/>
            <a:ext cx="2800741" cy="52394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6C19ABB-8D35-4FE2-8EDA-B3C864BF08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1354" y="3209894"/>
            <a:ext cx="3038899" cy="43821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119A923-A2AE-9606-9301-B649C3D9EF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1354" y="3648105"/>
            <a:ext cx="3362794" cy="39058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2174D30-D00D-5570-C5C3-B6877DC6B9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3168" y="4745872"/>
            <a:ext cx="7127417" cy="1443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4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87700-8840-990A-45A7-2427AB6A6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06C75-5E1C-CDE4-9A15-A6B7B622F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7200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0553E-196C-E21D-D64B-AA5E471805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9913305" cy="50450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2800" dirty="0"/>
              <a:t>Forthcomings of current approaches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BDF2713-E58B-30E1-BEF5-C6F8DD922FA9}"/>
              </a:ext>
            </a:extLst>
          </p:cNvPr>
          <p:cNvSpPr txBox="1">
            <a:spLocks/>
          </p:cNvSpPr>
          <p:nvPr/>
        </p:nvSpPr>
        <p:spPr>
          <a:xfrm>
            <a:off x="1181415" y="2302024"/>
            <a:ext cx="2857010" cy="338554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dirty="0"/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Sequential in nature</a:t>
            </a:r>
          </a:p>
          <a:p>
            <a:pPr marL="457200" indent="-457200">
              <a:buFont typeface="+mj-lt"/>
              <a:buAutoNum type="arabicPeriod"/>
            </a:pPr>
            <a:endParaRPr lang="en-IN" dirty="0"/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Fails at high data rates</a:t>
            </a:r>
          </a:p>
          <a:p>
            <a:pPr marL="457200" indent="-457200">
              <a:buFont typeface="+mj-lt"/>
              <a:buAutoNum type="arabicPeriod"/>
            </a:pPr>
            <a:endParaRPr lang="en-IN" dirty="0"/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Time varying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1931F5-C7C1-913B-6354-9C18D5110B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1246" y="3216781"/>
            <a:ext cx="7519082" cy="145284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56B43A5-C6BF-F14C-D488-63A71B89EF65}"/>
              </a:ext>
            </a:extLst>
          </p:cNvPr>
          <p:cNvSpPr txBox="1">
            <a:spLocks/>
          </p:cNvSpPr>
          <p:nvPr/>
        </p:nvSpPr>
        <p:spPr>
          <a:xfrm>
            <a:off x="1181415" y="5536167"/>
            <a:ext cx="9913305" cy="504501"/>
          </a:xfrm>
          <a:prstGeom prst="rect">
            <a:avLst/>
          </a:prstGeom>
        </p:spPr>
        <p:txBody>
          <a:bodyPr vert="horz" lIns="0" tIns="45720" rIns="0" bIns="45720" rtlCol="0">
            <a:normAutofit fontScale="925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Calibri" panose="020F0502020204030204" pitchFamily="34" charset="0"/>
              <a:buNone/>
            </a:pPr>
            <a:r>
              <a:rPr lang="en-IN" sz="2800" dirty="0"/>
              <a:t>Propose to use a single block to correct all distortions simultaneously</a:t>
            </a:r>
          </a:p>
        </p:txBody>
      </p:sp>
    </p:spTree>
    <p:extLst>
      <p:ext uri="{BB962C8B-B14F-4D97-AF65-F5344CB8AC3E}">
        <p14:creationId xmlns:p14="http://schemas.microsoft.com/office/powerpoint/2010/main" val="31474810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11C52-6182-C043-4B79-562E45E95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F0992-E781-A94C-B090-541FC6F5C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Formulation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1C3645-6D9E-6830-22D7-19BB4CA625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IN" dirty="0"/>
              <a:t>We tried to correct PMD. (With negligible amount of DGD).</a:t>
            </a:r>
          </a:p>
          <a:p>
            <a:pPr marL="457200" indent="-457200">
              <a:buFont typeface="+mj-lt"/>
              <a:buAutoNum type="arabicPeriod"/>
            </a:pPr>
            <a:endParaRPr lang="en-IN" dirty="0"/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2x2 MIMO system which had 4 filters </a:t>
            </a:r>
            <a:r>
              <a:rPr lang="en-IN" dirty="0" err="1"/>
              <a:t>Pxx</a:t>
            </a:r>
            <a:r>
              <a:rPr lang="en-IN" dirty="0"/>
              <a:t>, </a:t>
            </a:r>
            <a:r>
              <a:rPr lang="en-IN" dirty="0" err="1"/>
              <a:t>Pxy</a:t>
            </a:r>
            <a:r>
              <a:rPr lang="en-IN" dirty="0"/>
              <a:t>, Pyx, </a:t>
            </a:r>
            <a:r>
              <a:rPr lang="en-IN" dirty="0" err="1"/>
              <a:t>Pyy</a:t>
            </a:r>
            <a:r>
              <a:rPr lang="en-IN" dirty="0"/>
              <a:t>.</a:t>
            </a:r>
          </a:p>
          <a:p>
            <a:pPr marL="457200" indent="-457200">
              <a:buFont typeface="+mj-lt"/>
              <a:buAutoNum type="arabicPeriod"/>
            </a:pPr>
            <a:endParaRPr lang="en-IN" dirty="0"/>
          </a:p>
          <a:p>
            <a:pPr marL="457200" indent="-457200">
              <a:buFont typeface="+mj-lt"/>
              <a:buAutoNum type="arabicPeriod"/>
            </a:pPr>
            <a:endParaRPr lang="en-IN" dirty="0"/>
          </a:p>
          <a:p>
            <a:pPr marL="457200" indent="-457200">
              <a:buFont typeface="+mj-lt"/>
              <a:buAutoNum type="arabicPeriod"/>
            </a:pPr>
            <a:endParaRPr lang="en-IN" dirty="0"/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Each filter had 3 taps.</a:t>
            </a:r>
          </a:p>
          <a:p>
            <a:pPr marL="457200" indent="-457200">
              <a:buFont typeface="+mj-lt"/>
              <a:buAutoNum type="arabicPeriod"/>
            </a:pPr>
            <a:endParaRPr lang="en-IN" dirty="0"/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We made sure that the problem was solvable by CMA in order to validate our results.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A6A7A1-2BD1-3335-D25F-7906353130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2688" y="3323096"/>
            <a:ext cx="2934109" cy="4953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99C5F6E-B25A-280C-B4E8-DB5EDD106E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2689" y="4120336"/>
            <a:ext cx="2934109" cy="352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219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216BE-1ED0-27D3-ACC3-FE0F9BC5A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Multi Armed Bandits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BD4BC-525B-4326-9947-F85CA0B84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Initial aim was to use MAB to solve our problem.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UCB algorithm</a:t>
            </a:r>
          </a:p>
          <a:p>
            <a:pPr marL="457200" indent="-457200">
              <a:buFont typeface="+mj-lt"/>
              <a:buAutoNum type="arabicPeriod"/>
            </a:pPr>
            <a:endParaRPr lang="en-IN" dirty="0"/>
          </a:p>
          <a:p>
            <a:pPr marL="457200" indent="-457200">
              <a:buFont typeface="+mj-lt"/>
              <a:buAutoNum type="arabicPeriod"/>
            </a:pPr>
            <a:endParaRPr lang="en-IN" dirty="0"/>
          </a:p>
          <a:p>
            <a:pPr marL="457200" indent="-457200">
              <a:buFont typeface="+mj-lt"/>
              <a:buAutoNum type="arabicPeriod"/>
            </a:pPr>
            <a:endParaRPr lang="en-IN" dirty="0"/>
          </a:p>
          <a:p>
            <a:pPr marL="457200" indent="-457200">
              <a:buFont typeface="+mj-lt"/>
              <a:buAutoNum type="arabicPeriod"/>
            </a:pPr>
            <a:endParaRPr lang="en-IN" dirty="0"/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Gave 3 choices to each filter tap (total 3</a:t>
            </a:r>
            <a:r>
              <a:rPr lang="en-IN" baseline="30000" dirty="0"/>
              <a:t>12</a:t>
            </a:r>
            <a:r>
              <a:rPr lang="en-IN" dirty="0"/>
              <a:t> arms).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One of the choices was the converged filter by CMA.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Due to exponential increase in arms we tried other methods.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149D65-1BA2-5227-CF8D-403116DDE8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426" y="2489531"/>
            <a:ext cx="3903879" cy="201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945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91C8B-33A4-63B2-65F2-097A714F2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80F58-6647-9BCE-C8C1-D3C447332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Deep Q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333C5-BED0-9E26-6397-2B70C42B5D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IN" dirty="0"/>
              <a:t>DQN algorithm</a:t>
            </a:r>
          </a:p>
          <a:p>
            <a:pPr marL="457200" indent="-457200">
              <a:buFont typeface="+mj-lt"/>
              <a:buAutoNum type="arabicPeriod"/>
            </a:pPr>
            <a:endParaRPr lang="en-IN" dirty="0"/>
          </a:p>
          <a:p>
            <a:pPr marL="457200" indent="-457200">
              <a:buFont typeface="+mj-lt"/>
              <a:buAutoNum type="arabicPeriod"/>
            </a:pPr>
            <a:endParaRPr lang="en-IN" dirty="0"/>
          </a:p>
          <a:p>
            <a:pPr marL="457200" indent="-457200">
              <a:buFont typeface="+mj-lt"/>
              <a:buAutoNum type="arabicPeriod"/>
            </a:pPr>
            <a:endParaRPr lang="en-IN" dirty="0"/>
          </a:p>
          <a:p>
            <a:pPr marL="457200" indent="-457200">
              <a:buFont typeface="+mj-lt"/>
              <a:buAutoNum type="arabicPeriod"/>
            </a:pPr>
            <a:endParaRPr lang="en-IN" dirty="0"/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Defined action as increase, decrease or stay same.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Total of 72 actions, 3 actions for each of the filter taps (real and imaginary).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Poor convergence.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7E99BD2-9500-3CEF-E744-729F19A393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1327" y="2702502"/>
            <a:ext cx="3948038" cy="7264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487BEC2-A3DE-4F9D-EEAB-F20E2F3464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1591" y="2335626"/>
            <a:ext cx="3870730" cy="2029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5701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9DD36-FC2B-7874-EC33-2CAF6CF25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Branching Dueling Q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4FCF69-0FB0-A7BF-3C1B-13C78AC4ED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This is from the paper “Action Branching Architectures for Deep Reinforcement Learning” by Arash Tavakoli, Fabio Pardo, Petar </a:t>
            </a:r>
            <a:r>
              <a:rPr lang="en-IN" dirty="0" err="1"/>
              <a:t>Kormushev</a:t>
            </a:r>
            <a:r>
              <a:rPr lang="en-IN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DQN for large action spaces.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Prioritised Replay buffer.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Double DQN.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Dueling Architecture.</a:t>
            </a:r>
          </a:p>
          <a:p>
            <a:pPr marL="457200" indent="-457200">
              <a:buFont typeface="+mj-lt"/>
              <a:buAutoNum type="arabicPeriod"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EAB025-45BC-A1F0-50F8-8EB0F53C3D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9858" y="2728087"/>
            <a:ext cx="6133630" cy="28142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83EEE01-A84C-FC5C-E41A-1CDF1DB370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5625" y="4854851"/>
            <a:ext cx="2686425" cy="35247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3987E01-12ED-6529-1E78-F490D1F9B429}"/>
              </a:ext>
            </a:extLst>
          </p:cNvPr>
          <p:cNvSpPr/>
          <p:nvPr/>
        </p:nvSpPr>
        <p:spPr>
          <a:xfrm>
            <a:off x="7602367" y="4995193"/>
            <a:ext cx="861501" cy="4005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73246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B3597-4F3D-EE09-C69A-0517D31B9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2AE77-7CE0-A1BA-7477-C6F4B774A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Continuous Control RL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D1FE39-80F0-A282-1B4F-74CB2DF49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dirty="0"/>
              <a:t>Since none of our algorithms had converged till now we went to continuous RL.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In order to validate our model – Open AI’s Gym environment – Hopper.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We tried Deep Deterministic Policy Gradient(DDPG) and Soft Actor Critic(SAC).</a:t>
            </a:r>
          </a:p>
          <a:p>
            <a:endParaRPr lang="en-IN" dirty="0"/>
          </a:p>
        </p:txBody>
      </p:sp>
      <p:pic>
        <p:nvPicPr>
          <p:cNvPr id="7" name="bdqn_hopper">
            <a:hlinkClick r:id="" action="ppaction://media"/>
            <a:extLst>
              <a:ext uri="{FF2B5EF4-FFF2-40B4-BE49-F238E27FC236}">
                <a16:creationId xmlns:a16="http://schemas.microsoft.com/office/drawing/2014/main" id="{6C35C2C5-4924-954D-37C0-8F31A05796C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556699" y="3636977"/>
            <a:ext cx="2556793" cy="255679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7F26746-A848-422B-F192-E0B7EE794BFD}"/>
              </a:ext>
            </a:extLst>
          </p:cNvPr>
          <p:cNvSpPr txBox="1"/>
          <p:nvPr/>
        </p:nvSpPr>
        <p:spPr>
          <a:xfrm>
            <a:off x="1381673" y="3260727"/>
            <a:ext cx="906843" cy="3778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BDQN</a:t>
            </a:r>
          </a:p>
        </p:txBody>
      </p:sp>
      <p:pic>
        <p:nvPicPr>
          <p:cNvPr id="6" name="ddpg_hopper">
            <a:hlinkClick r:id="" action="ppaction://media"/>
            <a:extLst>
              <a:ext uri="{FF2B5EF4-FFF2-40B4-BE49-F238E27FC236}">
                <a16:creationId xmlns:a16="http://schemas.microsoft.com/office/drawing/2014/main" id="{B11613DE-827C-CB56-85BA-3F560E0370CE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4588374" y="3599191"/>
            <a:ext cx="2632363" cy="2632363"/>
          </a:xfrm>
          <a:prstGeom prst="rect">
            <a:avLst/>
          </a:prstGeom>
        </p:spPr>
      </p:pic>
      <p:pic>
        <p:nvPicPr>
          <p:cNvPr id="8" name="sac_hopper_eval-episode-0">
            <a:hlinkClick r:id="" action="ppaction://media"/>
            <a:extLst>
              <a:ext uri="{FF2B5EF4-FFF2-40B4-BE49-F238E27FC236}">
                <a16:creationId xmlns:a16="http://schemas.microsoft.com/office/drawing/2014/main" id="{AE76019B-711C-A378-3676-887136E61D9E}"/>
              </a:ext>
            </a:extLst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904945" y="3646423"/>
            <a:ext cx="2632364" cy="263236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E2626BA-DFE2-AC54-B136-DDEA579F1E57}"/>
              </a:ext>
            </a:extLst>
          </p:cNvPr>
          <p:cNvSpPr txBox="1"/>
          <p:nvPr/>
        </p:nvSpPr>
        <p:spPr>
          <a:xfrm>
            <a:off x="5424682" y="3264987"/>
            <a:ext cx="1458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DDPG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6CA5D4-BA99-9963-54AF-2927718DB93B}"/>
              </a:ext>
            </a:extLst>
          </p:cNvPr>
          <p:cNvSpPr txBox="1"/>
          <p:nvPr/>
        </p:nvSpPr>
        <p:spPr>
          <a:xfrm>
            <a:off x="9887989" y="3264987"/>
            <a:ext cx="1458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SAC</a:t>
            </a:r>
          </a:p>
        </p:txBody>
      </p:sp>
    </p:spTree>
    <p:extLst>
      <p:ext uri="{BB962C8B-B14F-4D97-AF65-F5344CB8AC3E}">
        <p14:creationId xmlns:p14="http://schemas.microsoft.com/office/powerpoint/2010/main" val="1671997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68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94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2384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9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>
              <p:cMediaNode vol="80000">
                <p:cTn id="20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video>
              <p:cMediaNode vol="80000">
                <p:cTn id="21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2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2116A-5415-5505-6886-00D2CCE2B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963AE-8E23-04ED-7389-A8A3C3BE4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Soft Actor Critic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61118-AC3B-8B97-3FBD-551586510F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IN" dirty="0"/>
              <a:t>Not only maximises reward but also entropy of the policy.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Samples from a gaussian and produces a (24,) dim action.</a:t>
            </a:r>
          </a:p>
          <a:p>
            <a:pPr marL="457200" indent="-457200">
              <a:buFont typeface="+mj-lt"/>
              <a:buAutoNum type="arabicPeriod"/>
            </a:pPr>
            <a:endParaRPr lang="en-IN" dirty="0"/>
          </a:p>
          <a:p>
            <a:pPr marL="457200" indent="-457200">
              <a:buFont typeface="+mj-lt"/>
              <a:buAutoNum type="arabicPeriod"/>
            </a:pP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C17AC1-18A3-4BC0-61F6-DEC9BC24E5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625" y="2788543"/>
            <a:ext cx="4332509" cy="324938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D430CEA-693F-EE5E-D132-45AC00E02F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7329" y="2874591"/>
            <a:ext cx="4103046" cy="3077285"/>
          </a:xfrm>
          <a:prstGeom prst="rect">
            <a:avLst/>
          </a:prstGeom>
        </p:spPr>
      </p:pic>
      <p:sp>
        <p:nvSpPr>
          <p:cNvPr id="16" name="Arrow: Right 15">
            <a:extLst>
              <a:ext uri="{FF2B5EF4-FFF2-40B4-BE49-F238E27FC236}">
                <a16:creationId xmlns:a16="http://schemas.microsoft.com/office/drawing/2014/main" id="{901CB464-F695-C784-A8A2-8917C4FEE3F1}"/>
              </a:ext>
            </a:extLst>
          </p:cNvPr>
          <p:cNvSpPr/>
          <p:nvPr/>
        </p:nvSpPr>
        <p:spPr>
          <a:xfrm>
            <a:off x="5185789" y="4209193"/>
            <a:ext cx="2049884" cy="40807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9509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36CBD-9C4B-F2B1-484B-912B0F93A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4A36E-9623-DF64-098F-812F85548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91645-4D0A-F227-015F-3811F28173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IN" dirty="0"/>
              <a:t>Improve SAC by hyperparameter tuning and better architectures</a:t>
            </a:r>
          </a:p>
          <a:p>
            <a:pPr marL="457200" indent="-457200">
              <a:buFont typeface="+mj-lt"/>
              <a:buAutoNum type="arabicPeriod"/>
            </a:pPr>
            <a:endParaRPr lang="en-IN" dirty="0"/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Correlated bandits</a:t>
            </a:r>
          </a:p>
          <a:p>
            <a:pPr marL="457200" indent="-457200">
              <a:buFont typeface="+mj-lt"/>
              <a:buAutoNum type="arabicPeriod"/>
            </a:pPr>
            <a:endParaRPr lang="en-IN" dirty="0"/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Combinatorial bandits</a:t>
            </a:r>
          </a:p>
          <a:p>
            <a:pPr marL="457200" indent="-457200">
              <a:buFont typeface="+mj-lt"/>
              <a:buAutoNum type="arabicPeriod"/>
            </a:pPr>
            <a:endParaRPr lang="en-IN" dirty="0"/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Restless bandits</a:t>
            </a:r>
          </a:p>
          <a:p>
            <a:pPr marL="457200" indent="-457200">
              <a:buFont typeface="+mj-lt"/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75823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81D64-BF3F-702B-D8FE-2F41E8BC0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dirty="0"/>
              <a:t>Past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5203A-F3FC-C0B6-7E03-6CFEE3A86F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44068" lvl="1" indent="-342900">
              <a:buFont typeface="+mj-lt"/>
              <a:buAutoNum type="arabicPeriod"/>
            </a:pPr>
            <a:r>
              <a:rPr lang="en-IN" dirty="0"/>
              <a:t>The initial month I worked on training a model to improve on SNDR for the outputs from the FFNN model.</a:t>
            </a:r>
          </a:p>
          <a:p>
            <a:pPr marL="544068" lvl="1" indent="-342900">
              <a:buFont typeface="+mj-lt"/>
              <a:buAutoNum type="arabicPeriod"/>
            </a:pPr>
            <a:r>
              <a:rPr lang="en-IN" dirty="0"/>
              <a:t>Created a network to predict centre frequency and took bandpass on it.</a:t>
            </a:r>
          </a:p>
          <a:p>
            <a:pPr marL="544068" lvl="1" indent="-342900">
              <a:buFont typeface="+mj-lt"/>
              <a:buAutoNum type="arabicPeriod"/>
            </a:pPr>
            <a:r>
              <a:rPr lang="en-IN" dirty="0"/>
              <a:t>Improves SNDR by 7db on the dataset.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D0EC33-2E5D-8797-EF3B-00B2C334EA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6271" y="3111458"/>
            <a:ext cx="3550290" cy="30769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7B647F3-D3DA-80B3-5A5A-05BCE5CB3B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0837" y="3066577"/>
            <a:ext cx="3650300" cy="3163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5898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349B9-84C0-0CA8-B6FC-CFD3A364F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588D02-8B85-6171-C00A-1683964303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IN" dirty="0"/>
              <a:t>Special thanks to Prof. LNT and Prof. Deepa for guiding me in this project.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Special thanks to Medha for her collaboration and discussions.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9CE381-50C0-97BC-67B1-539DCE4C30BF}"/>
              </a:ext>
            </a:extLst>
          </p:cNvPr>
          <p:cNvSpPr txBox="1"/>
          <p:nvPr/>
        </p:nvSpPr>
        <p:spPr>
          <a:xfrm>
            <a:off x="3079110" y="3752543"/>
            <a:ext cx="609474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800" b="1" dirty="0">
                <a:solidFill>
                  <a:schemeClr val="accent1"/>
                </a:solidFill>
              </a:rPr>
              <a:t>THANK YOU</a:t>
            </a:r>
            <a:endParaRPr lang="en-IN" sz="88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962763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1914</TotalTime>
  <Words>431</Words>
  <Application>Microsoft Office PowerPoint</Application>
  <PresentationFormat>Widescreen</PresentationFormat>
  <Paragraphs>89</Paragraphs>
  <Slides>13</Slides>
  <Notes>0</Notes>
  <HiddenSlides>0</HiddenSlides>
  <MMClips>3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Retrospect</vt:lpstr>
      <vt:lpstr> Blind Equalisation in Optical Fibre            Communication using RL  EE4902</vt:lpstr>
      <vt:lpstr>Introduction</vt:lpstr>
      <vt:lpstr>Introduction</vt:lpstr>
      <vt:lpstr>Introduction</vt:lpstr>
      <vt:lpstr>Problem Formulation</vt:lpstr>
      <vt:lpstr>Multi Armed Bandits</vt:lpstr>
      <vt:lpstr>Deep Q Learning</vt:lpstr>
      <vt:lpstr>Branching Dueling Q Network</vt:lpstr>
      <vt:lpstr>Continuous Control RL</vt:lpstr>
      <vt:lpstr>Soft Actor Critic</vt:lpstr>
      <vt:lpstr>Future Work</vt:lpstr>
      <vt:lpstr>Past Work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Charan Srikkanth</dc:creator>
  <cp:lastModifiedBy>Charan Srikkanth</cp:lastModifiedBy>
  <cp:revision>3</cp:revision>
  <dcterms:created xsi:type="dcterms:W3CDTF">2025-05-14T05:37:37Z</dcterms:created>
  <dcterms:modified xsi:type="dcterms:W3CDTF">2026-01-22T20:10:34Z</dcterms:modified>
</cp:coreProperties>
</file>